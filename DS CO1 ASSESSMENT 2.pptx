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69F6-4C97-896F-FA5E-BF8BE7E8F2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5BABCE-D475-8642-7A52-E1854F208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974AA0-985B-C82D-954A-5E24B1FDF170}"/>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A1C4060B-AC0D-320E-5146-B45C366133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458B98-12AE-F8A2-8118-02768C9A8A2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754016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6743-30DA-61FB-DFF2-7AF5C4F1D4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3F7F0E-1BC0-5FD9-3517-02FAB821B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06D84-B877-68F6-E6A5-7233BCA71888}"/>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CF5EFE25-F9C1-7006-0EAE-41D8C2031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40FD0-9985-8BAC-1CC0-E4B3CDB3B23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04437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F56B-6C22-DB66-D0EA-8437264F6C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810CA0-A482-ACAA-8EAB-6965EF20B8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8921D6-D554-9D46-19CD-B5C7BEC9C1E9}"/>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C96DAC63-4470-5E65-B124-E73948E992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D5E884-2595-55FF-0DF3-7C074AA4E05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79832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D4B-2AF7-15BC-15E4-235503FD93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B6BD30-497B-3538-A907-1BEDCDA12A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8814F7-FB11-924E-2D2D-B22C8DEA12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CB0D90-74AA-7AD0-E8FB-5A9FA23ECBAB}"/>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B74CA91B-1D00-AC26-522B-FCDB48662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1EC193-C31C-82C2-3DF8-53E190D3AC1A}"/>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2948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4642-D309-19F1-8206-06233E4044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764C0B-04DF-BBB0-EB90-4A0234D7AE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0AD6F7-DB9C-CE03-1D27-07CD4A6EAD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9D1E61-9EBB-2DC6-6FD4-87626DF9B0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A449D-CAF7-EA0C-EE5D-0E8DC9C035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23E4A0-AB18-7C66-D44D-912162E3127D}"/>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8" name="Footer Placeholder 7">
            <a:extLst>
              <a:ext uri="{FF2B5EF4-FFF2-40B4-BE49-F238E27FC236}">
                <a16:creationId xmlns:a16="http://schemas.microsoft.com/office/drawing/2014/main" id="{BDCB43E6-80E4-D469-B0C7-AA99078EEB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7CFBBE-58F3-7D11-550B-ECCCC021A35F}"/>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259241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9869-8562-FB0D-CF81-5F1E01441C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436D12-CEB2-AAA5-0170-5C57B5890F1D}"/>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4" name="Footer Placeholder 3">
            <a:extLst>
              <a:ext uri="{FF2B5EF4-FFF2-40B4-BE49-F238E27FC236}">
                <a16:creationId xmlns:a16="http://schemas.microsoft.com/office/drawing/2014/main" id="{660D5BEE-3502-FBA5-25DF-C39EE376F7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BA87D6-493F-0234-9BC5-D5B46F68AB0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35578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97D8CB-B99D-95B3-7BE9-5BFFD6DAA6AA}"/>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3" name="Footer Placeholder 2">
            <a:extLst>
              <a:ext uri="{FF2B5EF4-FFF2-40B4-BE49-F238E27FC236}">
                <a16:creationId xmlns:a16="http://schemas.microsoft.com/office/drawing/2014/main" id="{577DA4C8-2EE1-D20A-F6E8-761039547B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AE118D-3E36-A489-C4FE-C24705A3AB0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187109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7F43-04C3-E724-9B2B-DA4D711CCC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65317C-796F-8AD4-B154-FED28059B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5955B8-5538-055C-C186-33D59E456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C4AF9-100D-5C91-514F-6AE89CE88900}"/>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32BEA56C-B116-0EC4-D2FD-D2A928B706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16D4D-F26F-BFEA-56EA-7FE6A2982FF1}"/>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983013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41F4-3DDF-72DB-B40F-34520278C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2F2D84-710C-D8E7-71AF-AC168144FC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2135A4-7037-00A0-BC1B-5CF086520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D912A-5258-39B0-861A-89510836137C}"/>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01CE4BC6-7C55-264C-09F6-871B82F4BF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9E985-4AB7-4047-50F9-7E9C3E601258}"/>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155100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ACF8-E705-EC85-D73D-2CCE9D225B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7E9980-480D-A5B6-FB88-C67249903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14F4F-2EC9-872D-C24B-33886C22FD8A}"/>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8F0415AA-F69A-30D5-9D4F-8863C50F01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A1200-0A1D-F201-29B7-265FAD3C60D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71809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4883F-9E12-7EC7-D848-19414F0282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653A81-44CB-17F3-B9EB-E444337BA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12F292-310D-58A5-4764-5291C295BB8F}"/>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9C5F355D-B467-A85C-6E95-C8DEC538A7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82EBF-6977-3209-775B-03C79A2A88EC}"/>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64270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4249-A66A-BF4B-B321-459038CFD2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841AB8-FB1A-C72D-364C-140EEE53D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C741CC-12EA-A5B0-96F0-C3213CE127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D4FA4999-BD19-91A3-AF4C-E13D286BE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0F15568-BF80-A2F8-5CEB-5D86D4099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DBBE06-5D5F-476E-BEB5-1BD6A57A0406}" type="slidenum">
              <a:rPr lang="en-IN" smtClean="0"/>
              <a:t>‹#›</a:t>
            </a:fld>
            <a:endParaRPr lang="en-IN"/>
          </a:p>
        </p:txBody>
      </p:sp>
    </p:spTree>
    <p:extLst>
      <p:ext uri="{BB962C8B-B14F-4D97-AF65-F5344CB8AC3E}">
        <p14:creationId xmlns:p14="http://schemas.microsoft.com/office/powerpoint/2010/main" val="156559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352E9-5022-2517-0502-AF420ABE4E0E}"/>
              </a:ext>
            </a:extLst>
          </p:cNvPr>
          <p:cNvSpPr>
            <a:spLocks noGrp="1"/>
          </p:cNvSpPr>
          <p:nvPr>
            <p:ph type="ctrTitle"/>
          </p:nvPr>
        </p:nvSpPr>
        <p:spPr>
          <a:xfrm>
            <a:off x="1524000" y="1122363"/>
            <a:ext cx="9144000" cy="1119392"/>
          </a:xfrm>
        </p:spPr>
        <p:txBody>
          <a:bodyPr>
            <a:normAutofit/>
          </a:bodyPr>
          <a:lstStyle/>
          <a:p>
            <a:pPr algn="just"/>
            <a:r>
              <a:rPr lang="en-IN" sz="2400" b="1" dirty="0"/>
              <a:t>                                         CSA0302-DATA STRUCTURE</a:t>
            </a:r>
          </a:p>
        </p:txBody>
      </p:sp>
      <p:sp>
        <p:nvSpPr>
          <p:cNvPr id="3" name="Subtitle 2">
            <a:extLst>
              <a:ext uri="{FF2B5EF4-FFF2-40B4-BE49-F238E27FC236}">
                <a16:creationId xmlns:a16="http://schemas.microsoft.com/office/drawing/2014/main" id="{31F909E8-79E1-EB0B-1C2E-E2A70E7441C1}"/>
              </a:ext>
            </a:extLst>
          </p:cNvPr>
          <p:cNvSpPr>
            <a:spLocks noGrp="1"/>
          </p:cNvSpPr>
          <p:nvPr>
            <p:ph type="subTitle" idx="1"/>
          </p:nvPr>
        </p:nvSpPr>
        <p:spPr>
          <a:xfrm>
            <a:off x="1524000" y="2241755"/>
            <a:ext cx="9144000" cy="2374491"/>
          </a:xfrm>
        </p:spPr>
        <p:txBody>
          <a:bodyPr>
            <a:normAutofit/>
          </a:bodyPr>
          <a:lstStyle/>
          <a:p>
            <a:r>
              <a:rPr lang="en-IN" b="1" dirty="0"/>
              <a:t>TECHNICAL PRESENTATION</a:t>
            </a:r>
            <a:endParaRPr lang="en-IN" dirty="0"/>
          </a:p>
          <a:p>
            <a:r>
              <a:rPr lang="en-IN" dirty="0"/>
              <a:t>                                                                                                       Presented by:</a:t>
            </a:r>
          </a:p>
          <a:p>
            <a:r>
              <a:rPr lang="en-IN" dirty="0"/>
              <a:t>                                                                                                           </a:t>
            </a:r>
            <a:r>
              <a:rPr lang="en-IN" dirty="0" err="1"/>
              <a:t>G.Amrutha</a:t>
            </a:r>
            <a:endParaRPr lang="en-IN" dirty="0"/>
          </a:p>
          <a:p>
            <a:r>
              <a:rPr lang="en-IN" dirty="0"/>
              <a:t>                                                                                                               192511250</a:t>
            </a:r>
          </a:p>
        </p:txBody>
      </p:sp>
    </p:spTree>
    <p:extLst>
      <p:ext uri="{BB962C8B-B14F-4D97-AF65-F5344CB8AC3E}">
        <p14:creationId xmlns:p14="http://schemas.microsoft.com/office/powerpoint/2010/main" val="280407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1E53D-A31F-52D0-5EB7-638A98A86272}"/>
              </a:ext>
            </a:extLst>
          </p:cNvPr>
          <p:cNvSpPr>
            <a:spLocks noGrp="1"/>
          </p:cNvSpPr>
          <p:nvPr>
            <p:ph type="title"/>
          </p:nvPr>
        </p:nvSpPr>
        <p:spPr/>
        <p:txBody>
          <a:bodyPr/>
          <a:lstStyle/>
          <a:p>
            <a:r>
              <a:rPr lang="en-IN" dirty="0"/>
              <a:t>1.Linked List for Contact Management System</a:t>
            </a:r>
          </a:p>
        </p:txBody>
      </p:sp>
      <p:sp>
        <p:nvSpPr>
          <p:cNvPr id="3" name="Content Placeholder 2">
            <a:extLst>
              <a:ext uri="{FF2B5EF4-FFF2-40B4-BE49-F238E27FC236}">
                <a16:creationId xmlns:a16="http://schemas.microsoft.com/office/drawing/2014/main" id="{61BD6BCE-949C-150C-6650-7558E4C29B06}"/>
              </a:ext>
            </a:extLst>
          </p:cNvPr>
          <p:cNvSpPr>
            <a:spLocks noGrp="1"/>
          </p:cNvSpPr>
          <p:nvPr>
            <p:ph idx="1"/>
          </p:nvPr>
        </p:nvSpPr>
        <p:spPr/>
        <p:txBody>
          <a:bodyPr>
            <a:normAutofit/>
          </a:bodyPr>
          <a:lstStyle/>
          <a:p>
            <a:r>
              <a:rPr lang="en-IN" b="1" dirty="0"/>
              <a:t>Justification</a:t>
            </a:r>
          </a:p>
          <a:p>
            <a:r>
              <a:rPr lang="en-IN" dirty="0"/>
              <a:t>A Linked List is the most suitable data structure for a contact management application where user records are frequently inserted and deleted.</a:t>
            </a:r>
          </a:p>
          <a:p>
            <a:r>
              <a:rPr lang="en-IN" b="1" dirty="0"/>
              <a:t>Reasons for Choosing a Linked List</a:t>
            </a:r>
          </a:p>
          <a:p>
            <a:r>
              <a:rPr lang="en-IN" b="1" dirty="0"/>
              <a:t>Efficient Insertion</a:t>
            </a:r>
            <a:r>
              <a:rPr lang="en-IN" dirty="0"/>
              <a:t> </a:t>
            </a:r>
          </a:p>
          <a:p>
            <a:pPr lvl="1"/>
            <a:r>
              <a:rPr lang="en-IN" dirty="0"/>
              <a:t>New contact records can be inserted without shifting existing elements. </a:t>
            </a:r>
          </a:p>
          <a:p>
            <a:pPr lvl="1"/>
            <a:r>
              <a:rPr lang="en-IN" dirty="0"/>
              <a:t>Insertion takes O(1) time when the position is known. </a:t>
            </a:r>
          </a:p>
          <a:p>
            <a:endParaRPr lang="en-IN" dirty="0"/>
          </a:p>
          <a:p>
            <a:endParaRPr lang="en-IN" dirty="0"/>
          </a:p>
        </p:txBody>
      </p:sp>
    </p:spTree>
    <p:extLst>
      <p:ext uri="{BB962C8B-B14F-4D97-AF65-F5344CB8AC3E}">
        <p14:creationId xmlns:p14="http://schemas.microsoft.com/office/powerpoint/2010/main" val="318293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EAB1-170C-7D4B-E33D-FE0DD3C4FB9B}"/>
              </a:ext>
            </a:extLst>
          </p:cNvPr>
          <p:cNvSpPr>
            <a:spLocks noGrp="1"/>
          </p:cNvSpPr>
          <p:nvPr>
            <p:ph type="title"/>
          </p:nvPr>
        </p:nvSpPr>
        <p:spPr/>
        <p:txBody>
          <a:bodyPr/>
          <a:lstStyle/>
          <a:p>
            <a:r>
              <a:rPr lang="en-IN" dirty="0"/>
              <a:t>. </a:t>
            </a:r>
            <a:r>
              <a:rPr lang="en-IN" sz="3200" b="1" dirty="0"/>
              <a:t>Efficient Deletion:</a:t>
            </a:r>
          </a:p>
        </p:txBody>
      </p:sp>
      <p:sp>
        <p:nvSpPr>
          <p:cNvPr id="3" name="Content Placeholder 2">
            <a:extLst>
              <a:ext uri="{FF2B5EF4-FFF2-40B4-BE49-F238E27FC236}">
                <a16:creationId xmlns:a16="http://schemas.microsoft.com/office/drawing/2014/main" id="{3D69572F-EE45-3577-4E68-7D37A120813B}"/>
              </a:ext>
            </a:extLst>
          </p:cNvPr>
          <p:cNvSpPr>
            <a:spLocks noGrp="1"/>
          </p:cNvSpPr>
          <p:nvPr>
            <p:ph idx="1"/>
          </p:nvPr>
        </p:nvSpPr>
        <p:spPr>
          <a:xfrm>
            <a:off x="838200" y="1297858"/>
            <a:ext cx="10515600" cy="4879105"/>
          </a:xfrm>
        </p:spPr>
        <p:txBody>
          <a:bodyPr>
            <a:normAutofit lnSpcReduction="10000"/>
          </a:bodyPr>
          <a:lstStyle/>
          <a:p>
            <a:pPr marL="457200" lvl="1" indent="0">
              <a:buNone/>
            </a:pPr>
            <a:r>
              <a:rPr lang="en-IN" sz="3500" b="1" dirty="0"/>
              <a:t>.</a:t>
            </a:r>
            <a:r>
              <a:rPr lang="en-IN" sz="3500" dirty="0"/>
              <a:t> </a:t>
            </a:r>
            <a:r>
              <a:rPr lang="en-IN" dirty="0"/>
              <a:t> Contacts can be deleted easily by updating pointers. </a:t>
            </a:r>
          </a:p>
          <a:p>
            <a:pPr lvl="1"/>
            <a:r>
              <a:rPr lang="en-IN" dirty="0"/>
              <a:t>No need to move other records, unlike arrays. </a:t>
            </a:r>
          </a:p>
          <a:p>
            <a:pPr lvl="1"/>
            <a:r>
              <a:rPr lang="en-IN" dirty="0"/>
              <a:t>Deletion takes O(1) time when the node is known. </a:t>
            </a:r>
          </a:p>
          <a:p>
            <a:r>
              <a:rPr lang="en-IN" b="1" dirty="0"/>
              <a:t>Dynamic Memory Allocation</a:t>
            </a:r>
            <a:r>
              <a:rPr lang="en-IN" dirty="0"/>
              <a:t> </a:t>
            </a:r>
          </a:p>
          <a:p>
            <a:pPr lvl="1"/>
            <a:r>
              <a:rPr lang="en-IN" dirty="0"/>
              <a:t>Memory is allocated only when a new contact is added. </a:t>
            </a:r>
          </a:p>
          <a:p>
            <a:pPr lvl="1"/>
            <a:r>
              <a:rPr lang="en-IN" dirty="0"/>
              <a:t>There is no fixed size limitation, allowing the contact list to grow or shrink as needed. </a:t>
            </a:r>
          </a:p>
          <a:p>
            <a:r>
              <a:rPr lang="en-IN" b="1" dirty="0"/>
              <a:t>Better Memory Utilization</a:t>
            </a:r>
            <a:r>
              <a:rPr lang="en-IN" dirty="0"/>
              <a:t> </a:t>
            </a:r>
          </a:p>
          <a:p>
            <a:pPr lvl="1"/>
            <a:r>
              <a:rPr lang="en-IN" dirty="0"/>
              <a:t>Memory is not wasted on unused spaces, unlike fixed-size arrays. </a:t>
            </a:r>
          </a:p>
          <a:p>
            <a:r>
              <a:rPr lang="en-IN" b="1" dirty="0"/>
              <a:t>Easy Maintenance</a:t>
            </a:r>
            <a:r>
              <a:rPr lang="en-IN" dirty="0"/>
              <a:t> </a:t>
            </a:r>
          </a:p>
          <a:p>
            <a:pPr lvl="1"/>
            <a:r>
              <a:rPr lang="en-IN" dirty="0"/>
              <a:t>Contacts can be added or removed without reorganizing the entire data structure.</a:t>
            </a:r>
          </a:p>
          <a:p>
            <a:endParaRPr lang="en-IN" dirty="0"/>
          </a:p>
        </p:txBody>
      </p:sp>
    </p:spTree>
    <p:extLst>
      <p:ext uri="{BB962C8B-B14F-4D97-AF65-F5344CB8AC3E}">
        <p14:creationId xmlns:p14="http://schemas.microsoft.com/office/powerpoint/2010/main" val="2344339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5572-5A9F-C6F4-27DD-5F4A38575A4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A72384A8-7772-D59F-3E8D-02ABDA6BEBD7}"/>
              </a:ext>
            </a:extLst>
          </p:cNvPr>
          <p:cNvSpPr>
            <a:spLocks noGrp="1"/>
          </p:cNvSpPr>
          <p:nvPr>
            <p:ph idx="1"/>
          </p:nvPr>
        </p:nvSpPr>
        <p:spPr/>
        <p:txBody>
          <a:bodyPr/>
          <a:lstStyle/>
          <a:p>
            <a:pPr marL="0" indent="0">
              <a:buNone/>
            </a:pPr>
            <a:endParaRPr lang="en-IN" b="1" dirty="0"/>
          </a:p>
          <a:p>
            <a:r>
              <a:rPr lang="en-IN" dirty="0"/>
              <a:t>A Linked List is the best choice for a contact management application because it supports fast dynamic memory allocation, </a:t>
            </a:r>
            <a:r>
              <a:rPr lang="en-IN" b="1" dirty="0"/>
              <a:t> </a:t>
            </a:r>
            <a:r>
              <a:rPr lang="en-IN" dirty="0"/>
              <a:t>insertion, and efficient deletion of records. These features make it more suitable than an array for applications where contact records change frequently.</a:t>
            </a:r>
          </a:p>
          <a:p>
            <a:endParaRPr lang="en-IN" dirty="0"/>
          </a:p>
        </p:txBody>
      </p:sp>
    </p:spTree>
    <p:extLst>
      <p:ext uri="{BB962C8B-B14F-4D97-AF65-F5344CB8AC3E}">
        <p14:creationId xmlns:p14="http://schemas.microsoft.com/office/powerpoint/2010/main" val="117129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2700-2340-CE64-A45B-0639953C39A6}"/>
              </a:ext>
            </a:extLst>
          </p:cNvPr>
          <p:cNvSpPr>
            <a:spLocks noGrp="1"/>
          </p:cNvSpPr>
          <p:nvPr>
            <p:ph type="title"/>
          </p:nvPr>
        </p:nvSpPr>
        <p:spPr/>
        <p:txBody>
          <a:bodyPr/>
          <a:lstStyle/>
          <a:p>
            <a:r>
              <a:rPr lang="en-IN" dirty="0"/>
              <a:t>2. Selection of a Suitable Data Structure for a Banking System</a:t>
            </a:r>
          </a:p>
        </p:txBody>
      </p:sp>
      <p:sp>
        <p:nvSpPr>
          <p:cNvPr id="3" name="Content Placeholder 2">
            <a:extLst>
              <a:ext uri="{FF2B5EF4-FFF2-40B4-BE49-F238E27FC236}">
                <a16:creationId xmlns:a16="http://schemas.microsoft.com/office/drawing/2014/main" id="{504E138B-2D82-1095-A71E-56082AA17BF3}"/>
              </a:ext>
            </a:extLst>
          </p:cNvPr>
          <p:cNvSpPr>
            <a:spLocks noGrp="1"/>
          </p:cNvSpPr>
          <p:nvPr>
            <p:ph idx="1"/>
          </p:nvPr>
        </p:nvSpPr>
        <p:spPr/>
        <p:txBody>
          <a:bodyPr>
            <a:normAutofit lnSpcReduction="10000"/>
          </a:bodyPr>
          <a:lstStyle/>
          <a:p>
            <a:r>
              <a:rPr lang="en-IN" b="1" dirty="0"/>
              <a:t>Justification</a:t>
            </a:r>
          </a:p>
          <a:p>
            <a:r>
              <a:rPr lang="en-IN" dirty="0"/>
              <a:t>A Hash Table (Hash Map) is the most suitable data structure for a banking system that retrieves customer account details instantly using account numbers.</a:t>
            </a:r>
          </a:p>
          <a:p>
            <a:r>
              <a:rPr lang="en-IN" b="1" dirty="0"/>
              <a:t>Reasons for Choosing a Hash Table</a:t>
            </a:r>
          </a:p>
          <a:p>
            <a:r>
              <a:rPr lang="en-IN" b="1" dirty="0"/>
              <a:t>Fast Data Retrieval</a:t>
            </a:r>
            <a:r>
              <a:rPr lang="en-IN" dirty="0"/>
              <a:t> </a:t>
            </a:r>
          </a:p>
          <a:p>
            <a:pPr lvl="1"/>
            <a:r>
              <a:rPr lang="en-IN" dirty="0"/>
              <a:t>Account details can be retrieved in O(1) average time using the account number as the key. </a:t>
            </a:r>
          </a:p>
          <a:p>
            <a:r>
              <a:rPr lang="en-IN" b="1" dirty="0"/>
              <a:t>Unique Key Mapping</a:t>
            </a:r>
            <a:r>
              <a:rPr lang="en-IN" dirty="0"/>
              <a:t> </a:t>
            </a:r>
          </a:p>
          <a:p>
            <a:pPr lvl="1"/>
            <a:r>
              <a:rPr lang="en-IN" dirty="0"/>
              <a:t>Each account number is unique, making it an ideal key for storing and accessing customer records.</a:t>
            </a:r>
          </a:p>
          <a:p>
            <a:endParaRPr lang="en-IN" dirty="0"/>
          </a:p>
        </p:txBody>
      </p:sp>
    </p:spTree>
    <p:extLst>
      <p:ext uri="{BB962C8B-B14F-4D97-AF65-F5344CB8AC3E}">
        <p14:creationId xmlns:p14="http://schemas.microsoft.com/office/powerpoint/2010/main" val="171078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305-65F5-17D9-7407-AFA00451FD05}"/>
              </a:ext>
            </a:extLst>
          </p:cNvPr>
          <p:cNvSpPr>
            <a:spLocks noGrp="1"/>
          </p:cNvSpPr>
          <p:nvPr>
            <p:ph type="title"/>
          </p:nvPr>
        </p:nvSpPr>
        <p:spPr/>
        <p:txBody>
          <a:bodyPr/>
          <a:lstStyle/>
          <a:p>
            <a:endParaRPr lang="en-IN" sz="3600" dirty="0"/>
          </a:p>
        </p:txBody>
      </p:sp>
      <p:sp>
        <p:nvSpPr>
          <p:cNvPr id="3" name="Content Placeholder 2">
            <a:extLst>
              <a:ext uri="{FF2B5EF4-FFF2-40B4-BE49-F238E27FC236}">
                <a16:creationId xmlns:a16="http://schemas.microsoft.com/office/drawing/2014/main" id="{260A03C0-F763-D97F-EA4C-44A983735E8E}"/>
              </a:ext>
            </a:extLst>
          </p:cNvPr>
          <p:cNvSpPr>
            <a:spLocks noGrp="1"/>
          </p:cNvSpPr>
          <p:nvPr>
            <p:ph idx="1"/>
          </p:nvPr>
        </p:nvSpPr>
        <p:spPr/>
        <p:txBody>
          <a:bodyPr>
            <a:normAutofit lnSpcReduction="10000"/>
          </a:bodyPr>
          <a:lstStyle/>
          <a:p>
            <a:r>
              <a:rPr lang="en-IN" b="1" dirty="0"/>
              <a:t>Efficient Search</a:t>
            </a:r>
            <a:r>
              <a:rPr lang="en-IN" dirty="0"/>
              <a:t> The hash function directly maps the account number to its storage location, eliminating the need for sequential searching. </a:t>
            </a:r>
          </a:p>
          <a:p>
            <a:r>
              <a:rPr lang="en-IN" b="1" dirty="0"/>
              <a:t>Quick Insertion and Deletion</a:t>
            </a:r>
            <a:r>
              <a:rPr lang="en-IN" dirty="0"/>
              <a:t> New customer accounts can be added and existing accounts can be removed efficiently, typically in </a:t>
            </a:r>
            <a:r>
              <a:rPr lang="en-IN" b="1" dirty="0"/>
              <a:t>O(1)</a:t>
            </a:r>
            <a:r>
              <a:rPr lang="en-IN" dirty="0"/>
              <a:t> average time. </a:t>
            </a:r>
          </a:p>
          <a:p>
            <a:r>
              <a:rPr lang="en-IN" b="1" dirty="0"/>
              <a:t>Scalability</a:t>
            </a:r>
            <a:r>
              <a:rPr lang="en-IN" dirty="0"/>
              <a:t> Hash tables can efficiently manage a large number of customer records while maintaining fast performance. </a:t>
            </a:r>
          </a:p>
          <a:p>
            <a:r>
              <a:rPr lang="en-IN" b="1" dirty="0"/>
              <a:t>Improved System Performance</a:t>
            </a:r>
            <a:r>
              <a:rPr lang="en-IN" dirty="0"/>
              <a:t> Instant access to customer information reduces response time and improves the overall efficiency of banking operations.</a:t>
            </a:r>
          </a:p>
          <a:p>
            <a:endParaRPr lang="en-IN" dirty="0"/>
          </a:p>
        </p:txBody>
      </p:sp>
    </p:spTree>
    <p:extLst>
      <p:ext uri="{BB962C8B-B14F-4D97-AF65-F5344CB8AC3E}">
        <p14:creationId xmlns:p14="http://schemas.microsoft.com/office/powerpoint/2010/main" val="199482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4BF758-21F8-8A81-B5A8-103FE356270F}"/>
              </a:ext>
            </a:extLst>
          </p:cNvPr>
          <p:cNvSpPr txBox="1"/>
          <p:nvPr/>
        </p:nvSpPr>
        <p:spPr>
          <a:xfrm>
            <a:off x="157316" y="212523"/>
            <a:ext cx="10422193" cy="1754326"/>
          </a:xfrm>
          <a:prstGeom prst="rect">
            <a:avLst/>
          </a:prstGeom>
          <a:noFill/>
        </p:spPr>
        <p:txBody>
          <a:bodyPr wrap="square">
            <a:spAutoFit/>
          </a:bodyPr>
          <a:lstStyle/>
          <a:p>
            <a:pPr>
              <a:buNone/>
            </a:pPr>
            <a:r>
              <a:rPr lang="en-IN" b="1" dirty="0"/>
              <a:t>Conclusion </a:t>
            </a:r>
          </a:p>
          <a:p>
            <a:pPr>
              <a:buNone/>
            </a:pPr>
            <a:endParaRPr lang="en-IN" b="1" dirty="0"/>
          </a:p>
          <a:p>
            <a:pPr>
              <a:buNone/>
            </a:pPr>
            <a:r>
              <a:rPr lang="en-IN" dirty="0"/>
              <a:t>A Hash Table (Hash Map) is the best choice for a banking system because it provides instant retrieval, fast insertion, and efficient deletion of customer records using unique account numbers. Its average O(1) time complexity for search operations makes it ideal for banking applications that require quick and reliable access to customer account information.</a:t>
            </a:r>
          </a:p>
        </p:txBody>
      </p:sp>
    </p:spTree>
    <p:extLst>
      <p:ext uri="{BB962C8B-B14F-4D97-AF65-F5344CB8AC3E}">
        <p14:creationId xmlns:p14="http://schemas.microsoft.com/office/powerpoint/2010/main" val="125343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FDB2F-EFAC-6A15-849B-E20862E724E8}"/>
              </a:ext>
            </a:extLst>
          </p:cNvPr>
          <p:cNvSpPr>
            <a:spLocks noGrp="1"/>
          </p:cNvSpPr>
          <p:nvPr>
            <p:ph type="title"/>
          </p:nvPr>
        </p:nvSpPr>
        <p:spPr>
          <a:xfrm>
            <a:off x="838200" y="993058"/>
            <a:ext cx="10515600" cy="5270090"/>
          </a:xfrm>
        </p:spPr>
        <p:txBody>
          <a:bodyPr>
            <a:normAutofit/>
          </a:bodyPr>
          <a:lstStyle/>
          <a:p>
            <a:r>
              <a:rPr lang="en-IN" dirty="0"/>
              <a:t>                               </a:t>
            </a:r>
            <a:r>
              <a:rPr lang="en-IN" sz="5400" dirty="0"/>
              <a:t>THANK YOU</a:t>
            </a:r>
          </a:p>
        </p:txBody>
      </p:sp>
    </p:spTree>
    <p:extLst>
      <p:ext uri="{BB962C8B-B14F-4D97-AF65-F5344CB8AC3E}">
        <p14:creationId xmlns:p14="http://schemas.microsoft.com/office/powerpoint/2010/main" val="1259168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468</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                                         CSA0302-DATA STRUCTURE</vt:lpstr>
      <vt:lpstr>1.Linked List for Contact Management System</vt:lpstr>
      <vt:lpstr>. Efficient Deletion:</vt:lpstr>
      <vt:lpstr>Conclusion:</vt:lpstr>
      <vt:lpstr>2. Selection of a Suitable Data Structure for a Banking System</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Amrutha Chinnu</dc:creator>
  <cp:lastModifiedBy>Amrutha Chinnu</cp:lastModifiedBy>
  <cp:revision>2</cp:revision>
  <dcterms:created xsi:type="dcterms:W3CDTF">2026-07-21T03:38:45Z</dcterms:created>
  <dcterms:modified xsi:type="dcterms:W3CDTF">2026-07-21T05:07:10Z</dcterms:modified>
</cp:coreProperties>
</file>